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93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371600"/>
            <a:ext cx="164592" cy="2286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7160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приложения общаются друг с другом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58000" y="1645920"/>
            <a:ext cx="19202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Веб-разработка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F42"/>
          </a:solidFill>
          <a:ln w="12700">
            <a:solidFill>
              <a:srgbClr val="0A1F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B3D3"/>
                </a:solidFill>
              </a:rPr>
              <a:t>Основы веб-технологий · HTTP · Архитектура клиент-сервер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Что мы разберём сегодня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73152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23444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Что такое API и зачем он нужен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73152" cy="86868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31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8F77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233172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HTTP: протокол веба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29000"/>
            <a:ext cx="7315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290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4128" y="34290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6 принципов REST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34440"/>
            <a:ext cx="73152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2344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13248" y="123444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Методы и коды ответов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73152" cy="8686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3317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E44AD"/>
                </a:solidFill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13248" y="233172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Ресурсы и URL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2900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4290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13248" y="34290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833"/>
                </a:solidFill>
              </a:rPr>
              <a:t>Практика: читаем запрос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Что такое API?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</a:rPr>
              <a:t>💡  Аналогия: официант в ресторане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</a:rPr>
              <a:t>Вы (клиент) → делаете заказ → официант (API) → кухня (сервер) → блюдо (ответ)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2651760" cy="2377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API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Programming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Interface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Интерфейс для общения программ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377440"/>
            <a:ext cx="2651760" cy="23774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Клиент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83280" y="2880360"/>
            <a:ext cx="2286000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Ваш браузер,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мобильное приложение,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другой сервис,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который делает запрос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377440"/>
            <a:ext cx="2651760" cy="23774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Сервер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2880360"/>
            <a:ext cx="2286000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Принимает запрос,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обрабатывает,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возвращает данные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или ошибку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2"/>
          </a:solidFill>
          <a:ln w="12700">
            <a:solidFill>
              <a:srgbClr val="0A1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HTTP — язык веба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</a:rPr>
              <a:t>Запрос (Request)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/users/42 HTTP/1.1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api.example.com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abc123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</a:rPr>
              <a:t>Ответ (Response)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42,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"Алиса",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"alice@mail.ru"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926080"/>
            <a:ext cx="502920" cy="0"/>
          </a:xfrm>
          <a:prstGeom prst="line">
            <a:avLst/>
          </a:prstGeom>
          <a:noFill/>
          <a:ln w="25400">
            <a:solidFill>
              <a:srgbClr val="D5D8D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 принципов REST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6573"/>
                </a:solidFill>
              </a:rPr>
              <a:t>Representational State Transfer — стиль архитектуры, предложенный Роем Филдингом в 2000 г.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Клиент-сервер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</a:rPr>
              <a:t>Клиент и сервер независимы друг от друга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48F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08760"/>
            <a:ext cx="2743200" cy="38404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Без состояния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</a:rPr>
              <a:t>Каждый запрос содержит всю нужную информацию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08760"/>
            <a:ext cx="27432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08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Кэшируемость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9385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</a:rPr>
              <a:t>Ответы можно кэшировать для ускорения работы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08960"/>
            <a:ext cx="27432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08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Единый интерфейс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5387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</a:rPr>
              <a:t>Стандартные методы и форматы для всех ресурсов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108960"/>
            <a:ext cx="27432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108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Слоистая система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5387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</a:rPr>
              <a:t>Промежуточные серверы невидимы клиенту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80760" y="31089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108960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108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Код по запросу*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5387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833"/>
                </a:solidFill>
              </a:rPr>
              <a:t>Сервер может отдавать исполняемый код (опц.)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HTTP-методы: CRUD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Метод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143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43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Описание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143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Пример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841248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645920"/>
            <a:ext cx="96012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Read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554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Получить данные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155448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/users — список всех пользователей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304288"/>
            <a:ext cx="960120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042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2212848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Create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22128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Создать новый ресурс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221284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/users — создать пользователя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71216"/>
            <a:ext cx="841248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962656"/>
            <a:ext cx="960120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96265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2871216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Update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287121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Обновить ресурс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0" y="287121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/users/42 — заменить целиком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52958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3621024"/>
            <a:ext cx="960120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62102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PATCH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3529584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Update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35295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Частичное обновление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3360" y="352958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/users/42 — изменить имя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187952"/>
            <a:ext cx="841248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4279392"/>
            <a:ext cx="960120" cy="42062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27939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54480" y="4187952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573"/>
                </a:solidFill>
              </a:rPr>
              <a:t>Delete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60320" y="418795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</a:rPr>
              <a:t>Удалить ресурс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0" y="418795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/users/42 — удалить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Коды ответов HTTP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746504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206240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2xx  —  Успех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— всё хорошо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 — ресурс создан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 — пустой ответ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206240" cy="1362456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20624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3xx  —  Редирект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 Moved Perm. — постоянный редирект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0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304 Not Modified — из кэша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206240" cy="2130552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17520"/>
            <a:ext cx="4206240" cy="4389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175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4xx  —  Ошибка клиента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 — неверный запрос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Unauthorized — нет авторизации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233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 Forbidden — нет прав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599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 — не найдено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206240" cy="1362456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17520"/>
            <a:ext cx="4206240" cy="43891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175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5xx  —  Ошибка сервера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502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Internal Error — сервер сломался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3776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1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503 Unavailable — сервис недоступен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Ресурсы и URL в 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https://api.example.com/v1/users/42/orders?limit=10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47548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</a:rPr>
              <a:t>✅  Используйте существительные: /users, /products, /orders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47548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</a:rPr>
              <a:t>✅  Множественное число для коллекций: /users (не /user)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8412480" cy="475488"/>
          </a:xfrm>
          <a:prstGeom prst="rect">
            <a:avLst/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5E20"/>
                </a:solidFill>
              </a:rPr>
              <a:t>✅  ID ресурса в пути: /users/42 (не /getUserById?id=42)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490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1C1C"/>
                </a:solidFill>
              </a:rPr>
              <a:t>❌  Не используйте глаголы: /getUser, /deleteOrder — плохо!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4297680"/>
            <a:ext cx="8412480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976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1C1C"/>
                </a:solidFill>
              </a:rPr>
              <a:t>❌  Не меняйте логику без версионирования: /v1/, /v2/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2"/>
          </a:solidFill>
          <a:ln w="12700">
            <a:solidFill>
              <a:srgbClr val="0A1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Практика: разбираем запрос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Создаём новый товар в интернет-магазине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/v1/products  HTTP/1.1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83664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api.shop.ru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eyJhbGci...token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"Ноутбук Pro 15",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"price": 89900,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"category": "electronics",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"in_stock":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Ответ: 201 Created  +  JSON с созданным товаром (включая сгенерированный id)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2"/>
          </a:solidFill>
          <a:ln w="12700">
            <a:solidFill>
              <a:srgbClr val="0A1F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Итоги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160520" cy="1005840"/>
          </a:xfrm>
          <a:prstGeom prst="rect">
            <a:avLst/>
          </a:prstGeom>
          <a:solidFill>
            <a:srgbClr val="142952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1887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15568" y="1371600"/>
            <a:ext cx="0" cy="6400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1188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REST — это набор принципов для проектирования веб-API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60520" cy="1005840"/>
          </a:xfrm>
          <a:prstGeom prst="rect">
            <a:avLst/>
          </a:prstGeom>
          <a:solidFill>
            <a:srgbClr val="142952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4231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15568" y="2606040"/>
            <a:ext cx="0" cy="6400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Используется поверх HTTP-протокола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4160520" cy="1005840"/>
          </a:xfrm>
          <a:prstGeom prst="rect">
            <a:avLst/>
          </a:prstGeom>
          <a:solidFill>
            <a:srgbClr val="142952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6576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15568" y="3840480"/>
            <a:ext cx="0" cy="6400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657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Ключевые методы: GET, POST, PUT, PATCH, DELETE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160520" cy="1005840"/>
          </a:xfrm>
          <a:prstGeom prst="rect">
            <a:avLst/>
          </a:prstGeom>
          <a:solidFill>
            <a:srgbClr val="142952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1887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458968" y="1371600"/>
            <a:ext cx="0" cy="6400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5272" y="1188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Коды ответов: 2xx — успех, 4xx — ошибка клиента, 5xx — сервер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09160" y="2423160"/>
            <a:ext cx="4160520" cy="1005840"/>
          </a:xfrm>
          <a:prstGeom prst="rect">
            <a:avLst/>
          </a:prstGeom>
          <a:solidFill>
            <a:srgbClr val="142952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24231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458968" y="2606040"/>
            <a:ext cx="0" cy="6400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5272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URL описывает ресурс, метод — действие над ним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09160" y="3657600"/>
            <a:ext cx="4160520" cy="1005840"/>
          </a:xfrm>
          <a:prstGeom prst="rect">
            <a:avLst/>
          </a:prstGeom>
          <a:solidFill>
            <a:srgbClr val="142952"/>
          </a:solidFill>
          <a:ln w="12700">
            <a:solidFill>
              <a:srgbClr val="1E4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36576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5458968" y="3840480"/>
            <a:ext cx="0" cy="64008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36576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Запросы не хранят состояние — каждый самодостаточен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Следующая тема: Авторизация в REST API — JWT и OAuth 2.0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655</Words>
  <Application>Microsoft Macintosh PowerPoint</Application>
  <PresentationFormat>On-screen Show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— введение</dc:title>
  <dc:subject>PptxGenJS Presentation</dc:subject>
  <dc:creator>PptxGenJS</dc:creator>
  <cp:lastModifiedBy>Microsoft Office User</cp:lastModifiedBy>
  <cp:revision>2</cp:revision>
  <dcterms:created xsi:type="dcterms:W3CDTF">2026-03-14T09:44:44Z</dcterms:created>
  <dcterms:modified xsi:type="dcterms:W3CDTF">2026-03-14T09:55:09Z</dcterms:modified>
</cp:coreProperties>
</file>